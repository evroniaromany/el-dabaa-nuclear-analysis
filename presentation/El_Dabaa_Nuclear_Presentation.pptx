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Installed Capacity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350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8A7141"/>
              </a:solidFill>
              <a:effectLst/>
            </c:spPr>
          </c:dPt>
          <c:dPt>
            <c:idx val="3"/>
            <c:bubble3D val="0"/>
            <c:spPr>
              <a:solidFill>
                <a:srgbClr val="C89B3C"/>
              </a:solidFill>
              <a:effectLst/>
            </c:spPr>
          </c:dPt>
          <c:dPt>
            <c:idx val="4"/>
            <c:bubble3D val="0"/>
            <c:spPr>
              <a:solidFill>
                <a:srgbClr val="A6C3CE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Natural Gas</c:v>
                </c:pt>
                <c:pt idx="1">
                  <c:v>Hydro</c:v>
                </c:pt>
                <c:pt idx="2">
                  <c:v>Oil</c:v>
                </c:pt>
                <c:pt idx="3">
                  <c:v>Solar</c:v>
                </c:pt>
                <c:pt idx="4">
                  <c:v>Wind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85.1</c:v>
                </c:pt>
                <c:pt idx="1">
                  <c:v>8.2</c:v>
                </c:pt>
                <c:pt idx="2">
                  <c:v>2.9</c:v>
                </c:pt>
                <c:pt idx="3">
                  <c:v>2.2</c:v>
                </c:pt>
                <c:pt idx="4">
                  <c:v>1.6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0B335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MW ($M)</c:v>
                </c:pt>
              </c:strCache>
            </c:strRef>
          </c:tx>
          <c:spPr>
            <a:solidFill>
              <a:srgbClr val="C89B3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33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9B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32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322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El Dabaa (VVER-1200)</c:v>
                  </c:pt>
                  <c:pt idx="1">
                    <c:v>Hualong One (China)</c:v>
                  </c:pt>
                  <c:pt idx="2">
                    <c:v>APR-1400 (South Korea)</c:v>
                  </c:pt>
                  <c:pt idx="3">
                    <c:v>AP1000 (Vogtle, USA)</c:v>
                  </c:pt>
                  <c:pt idx="4">
                    <c:v>EPR-1600 (Europe)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2.09</c:v>
                </c:pt>
                <c:pt idx="1">
                  <c:v>3.5</c:v>
                </c:pt>
                <c:pt idx="2">
                  <c:v>3.88</c:v>
                </c:pt>
                <c:pt idx="3">
                  <c:v>7.04</c:v>
                </c:pt>
                <c:pt idx="4">
                  <c:v>7.95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33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$M per MW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($B)</c:v>
                </c:pt>
              </c:strCache>
            </c:strRef>
          </c:tx>
          <c:spPr>
            <a:solidFill>
              <a:srgbClr val="C89B3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33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9B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7A4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7A4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32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322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El Dabaa (VVER-1200)</c:v>
                  </c:pt>
                  <c:pt idx="1">
                    <c:v>Shin Hanul-2 (APR-1400)</c:v>
                  </c:pt>
                  <c:pt idx="2">
                    <c:v>Fangchenggang (Hualong One)</c:v>
                  </c:pt>
                  <c:pt idx="3">
                    <c:v>Vogtle-3 (AP1000)</c:v>
                  </c:pt>
                  <c:pt idx="4">
                    <c:v>Olkiluoto-3 (EPR-1600)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1.04</c:v>
                </c:pt>
                <c:pt idx="1">
                  <c:v>3.73</c:v>
                </c:pt>
                <c:pt idx="2">
                  <c:v>1.9</c:v>
                </c:pt>
                <c:pt idx="3">
                  <c:v>-0.34</c:v>
                </c:pt>
                <c:pt idx="4">
                  <c:v>-0.98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33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US$ billion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350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C89B3C"/>
              </a:solidFill>
              <a:effectLst/>
            </c:spPr>
          </c:dPt>
          <c:dPt>
            <c:idx val="3"/>
            <c:bubble3D val="0"/>
            <c:spPr>
              <a:solidFill>
                <a:srgbClr val="6B9AB0"/>
              </a:solidFill>
              <a:effectLst/>
            </c:spPr>
          </c:dPt>
          <c:dPt>
            <c:idx val="4"/>
            <c:bubble3D val="0"/>
            <c:spPr>
              <a:solidFill>
                <a:srgbClr val="A6C3CE"/>
              </a:solidFill>
              <a:effectLst/>
            </c:spPr>
          </c:dPt>
          <c:dPt>
            <c:idx val="5"/>
            <c:bubble3D val="0"/>
            <c:spPr>
              <a:solidFill>
                <a:srgbClr val="8A7141"/>
              </a:solidFill>
              <a:effectLst/>
            </c:spPr>
          </c:dPt>
          <c:dPt>
            <c:idx val="6"/>
            <c:bubble3D val="0"/>
            <c:spPr>
              <a:solidFill>
                <a:srgbClr val="C7CDD1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.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0.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0.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Nuclear Fuel</c:v>
                </c:pt>
                <c:pt idx="1">
                  <c:v>Staff &amp; Labor</c:v>
                </c:pt>
                <c:pt idx="2">
                  <c:v>General Operations</c:v>
                </c:pt>
                <c:pt idx="3">
                  <c:v>Maintenance</c:v>
                </c:pt>
                <c:pt idx="4">
                  <c:v>Insurance</c:v>
                </c:pt>
                <c:pt idx="5">
                  <c:v>Waste Management</c:v>
                </c:pt>
                <c:pt idx="6">
                  <c:v>Other (security, cooling, regulatory)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34.4</c:v>
                </c:pt>
                <c:pt idx="1">
                  <c:v>30.5</c:v>
                </c:pt>
                <c:pt idx="2">
                  <c:v>8.9</c:v>
                </c:pt>
                <c:pt idx="3">
                  <c:v>6.6</c:v>
                </c:pt>
                <c:pt idx="4">
                  <c:v>6</c:v>
                </c:pt>
                <c:pt idx="5">
                  <c:v>4.4</c:v>
                </c:pt>
                <c:pt idx="6">
                  <c:v>9.2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335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($B)</c:v>
                </c:pt>
              </c:strCache>
            </c:strRef>
          </c:tx>
          <c:spPr>
            <a:solidFill>
              <a:srgbClr val="C89B3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9B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9AB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9A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9AB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El Dabaa (4 units)</c:v>
                  </c:pt>
                  <c:pt idx="1">
                    <c:v>Shin Hanul-2</c:v>
                  </c:pt>
                  <c:pt idx="2">
                    <c:v>Flamanville-3</c:v>
                  </c:pt>
                  <c:pt idx="3">
                    <c:v>Olkiluoto-3</c:v>
                  </c:pt>
                  <c:pt idx="4">
                    <c:v>Vogtle-3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17.73</c:v>
                </c:pt>
                <c:pt idx="1">
                  <c:v>9.23</c:v>
                </c:pt>
                <c:pt idx="2">
                  <c:v>8.95</c:v>
                </c:pt>
                <c:pt idx="3">
                  <c:v>8.43</c:v>
                </c:pt>
                <c:pt idx="4">
                  <c:v>5.64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3E5A6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8E4E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3E5A6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D8E4E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3350"/>
        </a:solidFill>
        <a:ln>
          <a:noFill/>
        </a:ln>
        <a:effectLst/>
      </c:spPr>
    </c:plotArea>
    <c:plotVisOnly val="1"/>
    <c:dispBlanksAs val="span"/>
  </c:chart>
  <c:spPr>
    <a:solidFill>
      <a:srgbClr val="0B335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Events/GW</c:v>
                </c:pt>
              </c:strCache>
            </c:strRef>
          </c:tx>
          <c:spPr>
            <a:solidFill>
              <a:srgbClr val="6B9A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0B33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9A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9A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9B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9A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9AB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B9AB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Olkiluoto-3 (EPR)</c:v>
                  </c:pt>
                  <c:pt idx="1">
                    <c:v>Shin Kori-3 (APR)</c:v>
                  </c:pt>
                  <c:pt idx="2">
                    <c:v>El Dabaa (VVER-1200)</c:v>
                  </c:pt>
                  <c:pt idx="3">
                    <c:v>Vogtle-3 (AP1000)</c:v>
                  </c:pt>
                  <c:pt idx="4">
                    <c:v>Shin Hanul-2 (APR)</c:v>
                  </c:pt>
                  <c:pt idx="5">
                    <c:v>Fangchenggang (Hualong)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1.21</c:v>
                </c:pt>
                <c:pt idx="1">
                  <c:v>0.71</c:v>
                </c:pt>
                <c:pt idx="2">
                  <c:v>1.88</c:v>
                </c:pt>
                <c:pt idx="3">
                  <c:v>1.79</c:v>
                </c:pt>
                <c:pt idx="4">
                  <c:v>2.14</c:v>
                </c:pt>
                <c:pt idx="5">
                  <c:v>2.61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50" u="none">
                  <a:solidFill>
                    <a:srgbClr val="0B33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Financing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bubble3D val="0"/>
            <c:spPr>
              <a:solidFill>
                <a:srgbClr val="C89B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Concessional Russian State Loan</c:v>
                </c:pt>
                <c:pt idx="1">
                  <c:v>Egyptian Financing (state &amp; private sector)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85</c:v>
                </c:pt>
                <c:pt idx="1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B335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image" Target="../media/image-14-1.png"/><Relationship Id="rId3" Type="http://schemas.openxmlformats.org/officeDocument/2006/relationships/image" Target="../media/image-14-2.png"/><Relationship Id="rId4" Type="http://schemas.openxmlformats.org/officeDocument/2006/relationships/image" Target="../media/image-14-3.png"/><Relationship Id="rId5" Type="http://schemas.openxmlformats.org/officeDocument/2006/relationships/image" Target="../media/image-1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image" Target="../media/image-2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image" Target="../media/image-2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image" Target="../media/image-3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1371600"/>
            <a:ext cx="5486400" cy="5486400"/>
          </a:xfrm>
          <a:prstGeom prst="ellipse">
            <a:avLst/>
          </a:prstGeom>
          <a:ln w="190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-457200"/>
            <a:ext cx="3657600" cy="3657600"/>
          </a:xfrm>
          <a:prstGeom prst="ellipse">
            <a:avLst/>
          </a:prstGeom>
          <a:ln w="19050">
            <a:solidFill>
              <a:srgbClr val="C89B3C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548640"/>
            <a:ext cx="1051560" cy="1051560"/>
          </a:xfrm>
          <a:prstGeom prst="ellipse">
            <a:avLst/>
          </a:prstGeom>
          <a:solidFill>
            <a:srgbClr val="134A6E"/>
          </a:solidFill>
          <a:ln/>
        </p:spPr>
      </p:sp>
      <p:pic>
        <p:nvPicPr>
          <p:cNvPr id="5" name="Image 0" descr="icons/atom_g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801014"/>
            <a:ext cx="546811" cy="546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Dabaa Nuclear Power Plant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Egypt Choose Russian VVER-1200 Technology?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analysis of costs, profits, safety, and Egypt's nuclear history — for decision-makers, investors, and the public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4343400"/>
            <a:ext cx="292608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443410"/>
            <a:ext cx="10515600" cy="1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lnSpc>
                <a:spcPct val="110000"/>
              </a:lnSpc>
            </a:pPr>
            <a:r>
              <a:rPr lang="en-US" sz="15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</a:t>
            </a:r>
          </a:p>
          <a:p>
            <a:pPr algn="l" indent="0" marL="0">
              <a:buNone/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Evronia Romany</a:t>
            </a:r>
          </a:p>
          <a:p>
            <a:pPr algn="l" indent="0" marL="0">
              <a:buNone/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 Alaa</a:t>
            </a:r>
          </a:p>
          <a:p>
            <a:pPr algn="l" indent="0" marL="0">
              <a:buNone/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Shahd Abd Elnasser</a:t>
            </a:r>
          </a:p>
          <a:p>
            <a:pPr algn="l" indent="0" marL="0">
              <a:buNone/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Shimaa Elsayed</a:t>
            </a:r>
          </a:p>
          <a:p>
            <a:pPr algn="l" indent="0" marL="0">
              <a:buNone/>
              <a:spcBef>
                <a:spcPts val="600"/>
              </a:spcBef>
              <a:lnSpc>
                <a:spcPct val="110000"/>
              </a:lnSpc>
            </a:pPr>
            <a:r>
              <a:rPr lang="en-US" sz="15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supervision of:</a:t>
            </a:r>
          </a:p>
          <a:p>
            <a:pPr algn="l" indent="0" marL="0">
              <a:buNone/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Alaa Essam</a:t>
            </a:r>
          </a:p>
        </p:txBody>
      </p:sp>
      <p:sp>
        <p:nvSpPr>
          <p:cNvPr id="10" name="Text 7"/>
          <p:cNvSpPr/>
          <p:nvPr/>
        </p:nvSpPr>
        <p:spPr>
          <a:xfrm>
            <a:off x="822960" y="6309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4,800 MW  |  Four Generation III+ Reactors  |  Under IAEA Oversight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EFEFEF"/>
          </a:solidFill>
          <a:ln/>
        </p:spPr>
      </p:sp>
      <p:pic>
        <p:nvPicPr>
          <p:cNvPr id="4" name="Image 0" descr="icons/bolt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27048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874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207008" y="1389888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Egypt needs nuclear energy now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313432"/>
            <a:ext cx="457200" cy="457200"/>
          </a:xfrm>
          <a:prstGeom prst="ellipse">
            <a:avLst/>
          </a:prstGeom>
          <a:solidFill>
            <a:srgbClr val="EFEFEF"/>
          </a:solidFill>
          <a:ln/>
        </p:spPr>
      </p:sp>
      <p:pic>
        <p:nvPicPr>
          <p:cNvPr id="8" name="Image 1" descr="icons/fire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42316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7706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207008" y="22860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current electricity generation mix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3209544"/>
            <a:ext cx="457200" cy="457200"/>
          </a:xfrm>
          <a:prstGeom prst="ellipse">
            <a:avLst/>
          </a:prstGeom>
          <a:solidFill>
            <a:srgbClr val="EFEFEF"/>
          </a:solidFill>
          <a:ln/>
        </p:spPr>
      </p:sp>
      <p:pic>
        <p:nvPicPr>
          <p:cNvPr id="12" name="Image 2" descr="icons/calenda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31927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366674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207008" y="318211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nuclear journey: from Anshas to El Dabaa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4105656"/>
            <a:ext cx="457200" cy="457200"/>
          </a:xfrm>
          <a:prstGeom prst="ellipse">
            <a:avLst/>
          </a:prstGeom>
          <a:solidFill>
            <a:srgbClr val="EFEFEF"/>
          </a:solidFill>
          <a:ln/>
        </p:spPr>
      </p:sp>
      <p:pic>
        <p:nvPicPr>
          <p:cNvPr id="16" name="Image 3" descr="icons/building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21538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080" y="45628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1207008" y="4078224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Dabaa project: the key facts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40080" y="5001768"/>
            <a:ext cx="457200" cy="457200"/>
          </a:xfrm>
          <a:prstGeom prst="ellipse">
            <a:avLst/>
          </a:prstGeom>
          <a:solidFill>
            <a:srgbClr val="EFEFEF"/>
          </a:solidFill>
          <a:ln/>
        </p:spPr>
      </p:sp>
      <p:pic>
        <p:nvPicPr>
          <p:cNvPr id="20" name="Image 4" descr="icons/shiel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111496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0080" y="54589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1207008" y="4974336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VVER-1200? Technical and safety selection criteria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6355080" y="1417320"/>
            <a:ext cx="457200" cy="457200"/>
          </a:xfrm>
          <a:prstGeom prst="ellipse">
            <a:avLst/>
          </a:prstGeom>
          <a:solidFill>
            <a:srgbClr val="EFEFEF"/>
          </a:solidFill>
          <a:ln/>
        </p:spPr>
      </p:sp>
      <p:pic>
        <p:nvPicPr>
          <p:cNvPr id="24" name="Image 5" descr="icons/coin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1527048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355080" y="1874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6922008" y="1389888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cost: El Dabaa vs. the world's experience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6355080" y="2313432"/>
            <a:ext cx="457200" cy="457200"/>
          </a:xfrm>
          <a:prstGeom prst="ellipse">
            <a:avLst/>
          </a:prstGeom>
          <a:solidFill>
            <a:srgbClr val="EFEFEF"/>
          </a:solidFill>
          <a:ln/>
        </p:spPr>
      </p:sp>
      <p:pic>
        <p:nvPicPr>
          <p:cNvPr id="28" name="Image 6" descr="icons/chart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808" y="2423160"/>
            <a:ext cx="237744" cy="23774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355080" y="27706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6922008" y="22860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and return on investment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6355080" y="3209544"/>
            <a:ext cx="457200" cy="457200"/>
          </a:xfrm>
          <a:prstGeom prst="ellipse">
            <a:avLst/>
          </a:prstGeom>
          <a:solidFill>
            <a:srgbClr val="EFEFEF"/>
          </a:solidFill>
          <a:ln/>
        </p:spPr>
      </p:sp>
      <p:pic>
        <p:nvPicPr>
          <p:cNvPr id="32" name="Image 7" descr="icons/radiation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4808" y="3319272"/>
            <a:ext cx="237744" cy="23774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355080" y="366674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4" name="Text 24"/>
          <p:cNvSpPr/>
          <p:nvPr/>
        </p:nvSpPr>
        <p:spPr>
          <a:xfrm>
            <a:off x="6922008" y="318211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safety: data and design</a:t>
            </a:r>
            <a:endParaRPr lang="en-US" sz="1400" dirty="0"/>
          </a:p>
        </p:txBody>
      </p:sp>
      <p:sp>
        <p:nvSpPr>
          <p:cNvPr id="35" name="Shape 25"/>
          <p:cNvSpPr/>
          <p:nvPr/>
        </p:nvSpPr>
        <p:spPr>
          <a:xfrm>
            <a:off x="6355080" y="4105656"/>
            <a:ext cx="457200" cy="457200"/>
          </a:xfrm>
          <a:prstGeom prst="ellipse">
            <a:avLst/>
          </a:prstGeom>
          <a:solidFill>
            <a:srgbClr val="EFEFEF"/>
          </a:solidFill>
          <a:ln/>
        </p:spPr>
      </p:sp>
      <p:pic>
        <p:nvPicPr>
          <p:cNvPr id="36" name="Image 8" descr="icons/handshake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4808" y="4215384"/>
            <a:ext cx="237744" cy="23774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355080" y="45628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8" name="Text 27"/>
          <p:cNvSpPr/>
          <p:nvPr/>
        </p:nvSpPr>
        <p:spPr>
          <a:xfrm>
            <a:off x="6922008" y="4078224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impact, strategy, and financing</a:t>
            </a:r>
            <a:endParaRPr lang="en-US" sz="1400" dirty="0"/>
          </a:p>
        </p:txBody>
      </p:sp>
      <p:sp>
        <p:nvSpPr>
          <p:cNvPr id="39" name="Shape 28"/>
          <p:cNvSpPr/>
          <p:nvPr/>
        </p:nvSpPr>
        <p:spPr>
          <a:xfrm>
            <a:off x="6355080" y="5001768"/>
            <a:ext cx="457200" cy="457200"/>
          </a:xfrm>
          <a:prstGeom prst="ellipse">
            <a:avLst/>
          </a:prstGeom>
          <a:solidFill>
            <a:srgbClr val="EFEFEF"/>
          </a:solidFill>
          <a:ln/>
        </p:spPr>
      </p:sp>
      <p:pic>
        <p:nvPicPr>
          <p:cNvPr id="40" name="Image 9" descr="icons/flag_go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4808" y="5111496"/>
            <a:ext cx="237744" cy="237744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355080" y="54589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2" name="Text 30"/>
          <p:cNvSpPr/>
          <p:nvPr/>
        </p:nvSpPr>
        <p:spPr>
          <a:xfrm>
            <a:off x="6922008" y="4974336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full operation by 2030</a:t>
            </a:r>
            <a:endParaRPr lang="en-US" sz="1400" dirty="0"/>
          </a:p>
        </p:txBody>
      </p:sp>
      <p:sp>
        <p:nvSpPr>
          <p:cNvPr id="43" name="Text 3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Egypt Need Nuclear Energy Now?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Diversifying energy sources has become a strategic necessity, not a luxury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7F7F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548640" cy="548640"/>
          </a:xfrm>
          <a:prstGeom prst="ellipse">
            <a:avLst/>
          </a:prstGeom>
          <a:solidFill>
            <a:srgbClr val="E4ECEF"/>
          </a:solidFill>
          <a:ln/>
        </p:spPr>
      </p:sp>
      <p:pic>
        <p:nvPicPr>
          <p:cNvPr id="6" name="Image 0" descr="icons/fire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4" y="20976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4767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Reliance on Natural Gas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251460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gas is Egypt's primary fuel for electricity generation, leaving the grid exposed to production swings and global market volatility.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7F7F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965960"/>
            <a:ext cx="548640" cy="548640"/>
          </a:xfrm>
          <a:prstGeom prst="ellipse">
            <a:avLst/>
          </a:prstGeom>
          <a:solidFill>
            <a:srgbClr val="E4ECEF"/>
          </a:solidFill>
          <a:ln/>
        </p:spPr>
      </p:sp>
      <p:pic>
        <p:nvPicPr>
          <p:cNvPr id="11" name="Image 1" descr="icons/bolt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914" y="20976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4767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Electricity Demand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92240" y="251460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growth and industrial and urban expansion push electricity demand up every year, requiring massive, reliable generation sources.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7F7F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51960"/>
            <a:ext cx="548640" cy="548640"/>
          </a:xfrm>
          <a:prstGeom prst="ellipse">
            <a:avLst/>
          </a:prstGeom>
          <a:solidFill>
            <a:srgbClr val="E4ECEF"/>
          </a:solidFill>
          <a:ln/>
        </p:spPr>
      </p:sp>
      <p:pic>
        <p:nvPicPr>
          <p:cNvPr id="16" name="Image 2" descr="icons/leaf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794" y="43836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3367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Commitments &amp; Vision 2030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60120" y="480060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power delivers clean electricity with no operational carbon emissions, supporting Egypt's 2050 climate change strategy.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9776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7F7F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51960"/>
            <a:ext cx="548640" cy="548640"/>
          </a:xfrm>
          <a:prstGeom prst="ellipse">
            <a:avLst/>
          </a:prstGeom>
          <a:solidFill>
            <a:srgbClr val="E4ECEF"/>
          </a:solidFill>
          <a:ln/>
        </p:spPr>
      </p:sp>
      <p:pic>
        <p:nvPicPr>
          <p:cNvPr id="21" name="Image 3" descr="icons/char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914" y="43836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23367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Electricity Price Stability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92240" y="480060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fossil fuels, a nuclear plant's operating cost stays nearly constant for decades, shielding consumers and the state from price shocks.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Electricity Generation Mix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data from 62 Egyptian power plants — natural gas dominates 85% of installed capacity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53035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73736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/>
        </p:spPr>
      </p:sp>
      <p:sp>
        <p:nvSpPr>
          <p:cNvPr id="6" name="Shape 3"/>
          <p:cNvSpPr/>
          <p:nvPr/>
        </p:nvSpPr>
        <p:spPr>
          <a:xfrm>
            <a:off x="6537960" y="1993392"/>
            <a:ext cx="502920" cy="502920"/>
          </a:xfrm>
          <a:prstGeom prst="ellipse">
            <a:avLst/>
          </a:prstGeom>
          <a:solidFill>
            <a:srgbClr val="E4ECEF"/>
          </a:solidFill>
          <a:ln/>
        </p:spPr>
      </p:sp>
      <p:pic>
        <p:nvPicPr>
          <p:cNvPr id="7" name="Image 0" descr="icons/fire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1" y="2114093"/>
            <a:ext cx="261518" cy="261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23760" y="19019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34,183 MW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537960" y="230428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current installed capacity from Egyptian power plants in the dataset, most of it gas-fired.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263640" y="315468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/>
        </p:spPr>
      </p:sp>
      <p:sp>
        <p:nvSpPr>
          <p:cNvPr id="11" name="Shape 7"/>
          <p:cNvSpPr/>
          <p:nvPr/>
        </p:nvSpPr>
        <p:spPr>
          <a:xfrm>
            <a:off x="6537960" y="3410712"/>
            <a:ext cx="502920" cy="502920"/>
          </a:xfrm>
          <a:prstGeom prst="ellipse">
            <a:avLst/>
          </a:prstGeom>
          <a:solidFill>
            <a:srgbClr val="E4ECEF"/>
          </a:solidFill>
          <a:ln/>
        </p:spPr>
      </p:sp>
      <p:pic>
        <p:nvPicPr>
          <p:cNvPr id="12" name="Image 1" descr="icons/bol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1" y="3531413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23760" y="33192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Single-Fuel Concentration Risk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537960" y="372160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85% dependence on one fuel source leaves the grid exposed to any disruption in gas supply or global price swings.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263640" y="457200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/>
        </p:spPr>
      </p:sp>
      <p:sp>
        <p:nvSpPr>
          <p:cNvPr id="16" name="Shape 11"/>
          <p:cNvSpPr/>
          <p:nvPr/>
        </p:nvSpPr>
        <p:spPr>
          <a:xfrm>
            <a:off x="6537960" y="4828032"/>
            <a:ext cx="502920" cy="502920"/>
          </a:xfrm>
          <a:prstGeom prst="ellipse">
            <a:avLst/>
          </a:prstGeom>
          <a:solidFill>
            <a:srgbClr val="E4ECEF"/>
          </a:solidFill>
          <a:ln/>
        </p:spPr>
      </p:sp>
      <p:pic>
        <p:nvPicPr>
          <p:cNvPr id="17" name="Image 2" descr="icons/char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661" y="4948733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23760" y="47365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Dabaa Changes the Equation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537960" y="513892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4,800 MW of nuclear capacity will meaningfully raise the share of non-fossil sources and ease today's reliance on gas.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40080" y="63550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Global Power Plant Database — Egypt plant records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Nuclear Journey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first research reactor at Anshas to Egypt's first nuclear power plant at El Dabaa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31720" y="1600200"/>
            <a:ext cx="0" cy="444398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9424" y="1581912"/>
            <a:ext cx="164592" cy="164592"/>
          </a:xfrm>
          <a:prstGeom prst="ellipse">
            <a:avLst/>
          </a:prstGeom>
          <a:solidFill>
            <a:srgbClr val="C89B3C"/>
          </a:solidFill>
          <a:ln w="19050">
            <a:solidFill>
              <a:srgbClr val="0B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1954-1961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435608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nuclear program begins; the Anshas research reactor (2 MW) starts operating with Soviet cooperation.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49424" y="2148840"/>
            <a:ext cx="164592" cy="164592"/>
          </a:xfrm>
          <a:prstGeom prst="ellipse">
            <a:avLst/>
          </a:prstGeom>
          <a:solidFill>
            <a:srgbClr val="C89B3C"/>
          </a:solidFill>
          <a:ln w="19050">
            <a:solidFill>
              <a:srgbClr val="0B3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7568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2002536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Dabaa selected as the best site among 23 candidates for Egypt's first nuclear plant, following international technical studies.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49424" y="2715768"/>
            <a:ext cx="164592" cy="164592"/>
          </a:xfrm>
          <a:prstGeom prst="ellipse">
            <a:avLst/>
          </a:prstGeom>
          <a:solidFill>
            <a:srgbClr val="C89B3C"/>
          </a:solidFill>
          <a:ln w="19050">
            <a:solidFill>
              <a:srgbClr val="0B3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4261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569464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paused after the Chernobyl accident, amid global skepticism toward nuclear power.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49424" y="3282696"/>
            <a:ext cx="164592" cy="164592"/>
          </a:xfrm>
          <a:prstGeom prst="ellipse">
            <a:avLst/>
          </a:prstGeom>
          <a:solidFill>
            <a:srgbClr val="C89B3C"/>
          </a:solidFill>
          <a:ln w="19050">
            <a:solidFill>
              <a:srgbClr val="0B3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09544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2007-2010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3136392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program relaunched under President Mubarak; the IAEA formally endorses the El Dabaa site.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49424" y="3849624"/>
            <a:ext cx="164592" cy="164592"/>
          </a:xfrm>
          <a:prstGeom prst="ellipse">
            <a:avLst/>
          </a:prstGeom>
          <a:solidFill>
            <a:srgbClr val="C89B3C"/>
          </a:solidFill>
          <a:ln w="19050">
            <a:solidFill>
              <a:srgbClr val="0B3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764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3703320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El-Sisi and President Putin sign a strategic agreement to build and finance the El Dabaa plant with four reactors.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49424" y="4416552"/>
            <a:ext cx="164592" cy="164592"/>
          </a:xfrm>
          <a:prstGeom prst="ellipse">
            <a:avLst/>
          </a:prstGeom>
          <a:solidFill>
            <a:srgbClr val="C89B3C"/>
          </a:solidFill>
          <a:ln w="19050">
            <a:solidFill>
              <a:srgbClr val="0B33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434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51760" y="4270248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implementation contracts signed for four VVER-1200 units with Russia's Rosatom.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49424" y="4983480"/>
            <a:ext cx="164592" cy="164592"/>
          </a:xfrm>
          <a:prstGeom prst="ellipse">
            <a:avLst/>
          </a:prstGeom>
          <a:solidFill>
            <a:srgbClr val="C89B3C"/>
          </a:solidFill>
          <a:ln w="19050">
            <a:solidFill>
              <a:srgbClr val="0B33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91032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2022-2023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51760" y="4837176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pouring and actual construction begin for the four units in succession.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49424" y="5550408"/>
            <a:ext cx="164592" cy="164592"/>
          </a:xfrm>
          <a:prstGeom prst="ellipse">
            <a:avLst/>
          </a:prstGeom>
          <a:solidFill>
            <a:srgbClr val="C89B3C"/>
          </a:solidFill>
          <a:ln w="19050">
            <a:solidFill>
              <a:srgbClr val="0B33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4772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2026-2030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51760" y="5404104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commercial operation of all four units, bringing Egypt into the nuclear energy era.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Dabaa Project: The Key Facts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first nuclear power plant, and Africa's second after Koeberg in South Africa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0B335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34A6E"/>
          </a:solidFill>
          <a:ln/>
        </p:spPr>
      </p:sp>
      <p:pic>
        <p:nvPicPr>
          <p:cNvPr id="6" name="Image 0" descr="icons/bolt_g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299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4767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4,800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 |  Total capacity (4×1200)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0B3350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1920240"/>
            <a:ext cx="457200" cy="457200"/>
          </a:xfrm>
          <a:prstGeom prst="ellipse">
            <a:avLst/>
          </a:prstGeom>
          <a:solidFill>
            <a:srgbClr val="134A6E"/>
          </a:solidFill>
          <a:ln/>
        </p:spPr>
      </p:sp>
      <p:pic>
        <p:nvPicPr>
          <p:cNvPr id="11" name="Image 1" descr="icons/coins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0299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94767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$28.75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572000" y="25146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  |  Total project cost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55280" y="16916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0B3350"/>
          </a:solidFill>
          <a:ln/>
        </p:spPr>
      </p:sp>
      <p:sp>
        <p:nvSpPr>
          <p:cNvPr id="15" name="Shape 11"/>
          <p:cNvSpPr/>
          <p:nvPr/>
        </p:nvSpPr>
        <p:spPr>
          <a:xfrm>
            <a:off x="8183880" y="1920240"/>
            <a:ext cx="457200" cy="457200"/>
          </a:xfrm>
          <a:prstGeom prst="ellipse">
            <a:avLst/>
          </a:prstGeom>
          <a:solidFill>
            <a:srgbClr val="134A6E"/>
          </a:solidFill>
          <a:ln/>
        </p:spPr>
      </p:sp>
      <p:pic>
        <p:nvPicPr>
          <p:cNvPr id="16" name="Image 2" descr="icons/handshak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20299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78240" y="194767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8229600" y="25146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cost is a concessional Russian loan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47472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0B3350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134A6E"/>
          </a:solidFill>
          <a:ln/>
        </p:spPr>
      </p:sp>
      <p:pic>
        <p:nvPicPr>
          <p:cNvPr id="21" name="Image 3" descr="icons/chart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381304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7307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914400" y="42976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Egypt's future electricity generation capacity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347472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0B3350"/>
          </a:solidFill>
          <a:ln/>
        </p:spPr>
      </p:sp>
      <p:sp>
        <p:nvSpPr>
          <p:cNvPr id="25" name="Shape 19"/>
          <p:cNvSpPr/>
          <p:nvPr/>
        </p:nvSpPr>
        <p:spPr>
          <a:xfrm>
            <a:off x="4526280" y="3703320"/>
            <a:ext cx="457200" cy="457200"/>
          </a:xfrm>
          <a:prstGeom prst="ellipse">
            <a:avLst/>
          </a:prstGeom>
          <a:solidFill>
            <a:srgbClr val="134A6E"/>
          </a:solidFill>
          <a:ln/>
        </p:spPr>
      </p:sp>
      <p:pic>
        <p:nvPicPr>
          <p:cNvPr id="26" name="Image 4" descr="icons/users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81304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37307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+50,000</a:t>
            </a:r>
            <a:endParaRPr lang="en-US" sz="2600" dirty="0"/>
          </a:p>
        </p:txBody>
      </p:sp>
      <p:sp>
        <p:nvSpPr>
          <p:cNvPr id="28" name="Text 21"/>
          <p:cNvSpPr/>
          <p:nvPr/>
        </p:nvSpPr>
        <p:spPr>
          <a:xfrm>
            <a:off x="4572000" y="42976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and indirect jobs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955280" y="347472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0B3350"/>
          </a:solidFill>
          <a:ln/>
        </p:spPr>
      </p:sp>
      <p:sp>
        <p:nvSpPr>
          <p:cNvPr id="30" name="Shape 23"/>
          <p:cNvSpPr/>
          <p:nvPr/>
        </p:nvSpPr>
        <p:spPr>
          <a:xfrm>
            <a:off x="8183880" y="3703320"/>
            <a:ext cx="457200" cy="457200"/>
          </a:xfrm>
          <a:prstGeom prst="ellipse">
            <a:avLst/>
          </a:prstGeom>
          <a:solidFill>
            <a:srgbClr val="134A6E"/>
          </a:solidFill>
          <a:ln/>
        </p:spPr>
      </p:sp>
      <p:pic>
        <p:nvPicPr>
          <p:cNvPr id="31" name="Image 5" descr="icons/shield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608" y="3813048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78240" y="37307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600" dirty="0"/>
          </a:p>
        </p:txBody>
      </p:sp>
      <p:sp>
        <p:nvSpPr>
          <p:cNvPr id="33" name="Text 25"/>
          <p:cNvSpPr/>
          <p:nvPr/>
        </p:nvSpPr>
        <p:spPr>
          <a:xfrm>
            <a:off x="8229600" y="42976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 |  Design life of the plant (extendable to 100)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40080" y="63550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Egypt's Nuclear Power Plants Authority (NPPA), Rosatom, World Nuclear Association (WNA) — 2025/2026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Egypt Choose VVER-1200 Specifically?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Generation III+ reactor, compliant with post-Fukushima safety standards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20440" cy="2148840"/>
          </a:xfrm>
          <a:prstGeom prst="roundRect">
            <a:avLst>
              <a:gd name="adj" fmla="val 2979"/>
            </a:avLst>
          </a:prstGeom>
          <a:solidFill>
            <a:srgbClr val="F7F7F7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25980" y="1847088"/>
            <a:ext cx="548640" cy="548640"/>
          </a:xfrm>
          <a:prstGeom prst="ellipse">
            <a:avLst/>
          </a:prstGeom>
          <a:solidFill>
            <a:srgbClr val="E4ECEF"/>
          </a:solidFill>
          <a:ln/>
        </p:spPr>
      </p:sp>
      <p:pic>
        <p:nvPicPr>
          <p:cNvPr id="6" name="Image 0" descr="icons/shield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7654" y="197876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14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Containment &amp; Passive Cooling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29443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emergency heat-removal system works without external power or human intervention for up to 72 hours.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1645920"/>
            <a:ext cx="3520440" cy="2148840"/>
          </a:xfrm>
          <a:prstGeom prst="roundRect">
            <a:avLst>
              <a:gd name="adj" fmla="val 2979"/>
            </a:avLst>
          </a:prstGeom>
          <a:solidFill>
            <a:srgbClr val="F7F7F7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29300" y="1847088"/>
            <a:ext cx="548640" cy="548640"/>
          </a:xfrm>
          <a:prstGeom prst="ellipse">
            <a:avLst/>
          </a:prstGeom>
          <a:solidFill>
            <a:srgbClr val="E4ECEF"/>
          </a:solidFill>
          <a:ln/>
        </p:spPr>
      </p:sp>
      <p:pic>
        <p:nvPicPr>
          <p:cNvPr id="11" name="Image 1" descr="icons/warn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974" y="197876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514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Catcher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26280" y="29443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any potential core meltdown inside the building, preventing molten material from escaping into the surrounding environment.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46720" y="1645920"/>
            <a:ext cx="3520440" cy="2148840"/>
          </a:xfrm>
          <a:prstGeom prst="roundRect">
            <a:avLst>
              <a:gd name="adj" fmla="val 2979"/>
            </a:avLst>
          </a:prstGeom>
          <a:solidFill>
            <a:srgbClr val="F7F7F7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32620" y="1847088"/>
            <a:ext cx="548640" cy="548640"/>
          </a:xfrm>
          <a:prstGeom prst="ellipse">
            <a:avLst/>
          </a:prstGeom>
          <a:solidFill>
            <a:srgbClr val="E4ECEF"/>
          </a:solidFill>
          <a:ln/>
        </p:spPr>
      </p:sp>
      <p:pic>
        <p:nvPicPr>
          <p:cNvPr id="16" name="Image 2" descr="icons/balanc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4294" y="197876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514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 &amp; Natural Disaster Resistance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29600" y="29443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withstand earthquakes up to magnitude 9 on the Richter scale, matching El Dabaa's site requirements.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520440" cy="2148840"/>
          </a:xfrm>
          <a:prstGeom prst="roundRect">
            <a:avLst>
              <a:gd name="adj" fmla="val 2979"/>
            </a:avLst>
          </a:prstGeom>
          <a:solidFill>
            <a:srgbClr val="F7F7F7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125980" y="4178808"/>
            <a:ext cx="548640" cy="548640"/>
          </a:xfrm>
          <a:prstGeom prst="ellipse">
            <a:avLst/>
          </a:prstGeom>
          <a:solidFill>
            <a:srgbClr val="E4ECEF"/>
          </a:solidFill>
          <a:ln/>
        </p:spPr>
      </p:sp>
      <p:pic>
        <p:nvPicPr>
          <p:cNvPr id="21" name="Image 3" descr="icons/radiation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7654" y="431048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8463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Impact Resistance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22960" y="527608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 structure is designed to withstand the impact of a 400-tonne aircraft — a strict, rarely-applied safety standard.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520440" cy="2148840"/>
          </a:xfrm>
          <a:prstGeom prst="roundRect">
            <a:avLst>
              <a:gd name="adj" fmla="val 2979"/>
            </a:avLst>
          </a:prstGeom>
          <a:solidFill>
            <a:srgbClr val="F7F7F7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829300" y="4178808"/>
            <a:ext cx="548640" cy="548640"/>
          </a:xfrm>
          <a:prstGeom prst="ellipse">
            <a:avLst/>
          </a:prstGeom>
          <a:solidFill>
            <a:srgbClr val="E4ECEF"/>
          </a:solidFill>
          <a:ln/>
        </p:spPr>
      </p:sp>
      <p:pic>
        <p:nvPicPr>
          <p:cNvPr id="26" name="Image 4" descr="icons/hardhat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0974" y="4310482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8463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Operating Track Record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26280" y="527608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VVER-1200 technology is already operating in Russia (Novovoronezh, Leningrad) and under construction in Belarus, Turkey, and Bangladesh.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46720" y="3977640"/>
            <a:ext cx="3520440" cy="2148840"/>
          </a:xfrm>
          <a:prstGeom prst="roundRect">
            <a:avLst>
              <a:gd name="adj" fmla="val 2979"/>
            </a:avLst>
          </a:prstGeom>
          <a:solidFill>
            <a:srgbClr val="F7F7F7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532620" y="4178808"/>
            <a:ext cx="548640" cy="548640"/>
          </a:xfrm>
          <a:prstGeom prst="ellipse">
            <a:avLst/>
          </a:prstGeom>
          <a:solidFill>
            <a:srgbClr val="E4ECEF"/>
          </a:solidFill>
          <a:ln/>
        </p:spPr>
      </p:sp>
      <p:pic>
        <p:nvPicPr>
          <p:cNvPr id="31" name="Image 5" descr="icons/industry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4294" y="4310482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29600" y="48463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Transfer &amp; Local Training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229600" y="527608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Rosatom supplies nuclear fuel and trains Egyptian staff, and supports operation and maintenance for the first 10 years.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Cost per MW: El Dabaa vs. the World's Experience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analyzed from an operational database of 24 nuclear plants worldwide (2015–2024)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463040"/>
          <a:ext cx="10515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064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BF3E2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87044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Dabaa achieved the lowest capital cost per MW among all Generation III+ reactors in the data — roughly 4x cheaper than the two European EPR-1600 projects that dramatically exceeded their original budgets (Flamanville and Olkiluoto).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Profitability: Positive Returns vs. Cost-Overrun Losses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net profit recorded per plant over the data period (US$ billion)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417320"/>
          <a:ext cx="10515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71500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BF3E2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779008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Dabaa recorded the highest total revenue among all compared plants (thanks to its four-unit, 4x1200 MW design) and maintained positive profitability — unlike the AP1000 and EPR-1600 projects, whose returns turned into actual losses due to well-documented global construction cost overruns.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Dabaa's Monthly Operating Cost Structure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and labor together account for about 65% of total operating cost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54864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645920"/>
            <a:ext cx="5166360" cy="1371600"/>
          </a:xfrm>
          <a:prstGeom prst="roundRect">
            <a:avLst>
              <a:gd name="adj" fmla="val 4667"/>
            </a:avLst>
          </a:prstGeom>
          <a:solidFill>
            <a:srgbClr val="F7F7F7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0" y="17556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&amp; Labor Dominate: ~65%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0" y="212140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costs stay nearly constant for decades thanks to a long-term supply contract with Rosatom covering the plant's entire lifetime, with no exposure to global uranium market swings.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5080" y="3154680"/>
            <a:ext cx="5166360" cy="1371600"/>
          </a:xfrm>
          <a:prstGeom prst="roundRect">
            <a:avLst>
              <a:gd name="adj" fmla="val 4667"/>
            </a:avLst>
          </a:prstGeom>
          <a:solidFill>
            <a:srgbClr val="F7F7F7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0" y="326440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Maintenance: Just 6.6%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0" y="363016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relatively low share compared to older Generation II plants, thanks to more reliable systems and standardized parts across the Russian fleet.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55080" y="4663440"/>
            <a:ext cx="5166360" cy="1371600"/>
          </a:xfrm>
          <a:prstGeom prst="roundRect">
            <a:avLst>
              <a:gd name="adj" fmla="val 4667"/>
            </a:avLst>
          </a:prstGeom>
          <a:solidFill>
            <a:srgbClr val="F7F7F7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477316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Predictable Cost Base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83680" y="513892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natural gas, this cost structure allows long-term financial planning for electricity prices without surprises tied to global fuel markets.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Advantage: A Four-Unit Fleet on One Site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total revenue among all plants compared in the data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57607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73736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134A6E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0" y="1874520"/>
            <a:ext cx="128016" cy="12801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0" y="1810512"/>
            <a:ext cx="42519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Spreading infrastructure costs (grid, security, training) across 4 units lowers the fixed cost per MW.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675120" y="278892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134A6E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0" y="2926080"/>
            <a:ext cx="128016" cy="12801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0" y="2862072"/>
            <a:ext cx="42519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operations and maintenance team serves the whole site, raising overall operating efficiency.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75120" y="384048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134A6E"/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0" y="3977640"/>
            <a:ext cx="128016" cy="12801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0" y="3913632"/>
            <a:ext cx="42519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continuity: one unit stopping for maintenance doesn't halt output from the entire site.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75120" y="489204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134A6E"/>
          </a:solidFill>
          <a:ln/>
        </p:spPr>
      </p:sp>
      <p:sp>
        <p:nvSpPr>
          <p:cNvPr id="15" name="Shape 12"/>
          <p:cNvSpPr/>
          <p:nvPr/>
        </p:nvSpPr>
        <p:spPr>
          <a:xfrm>
            <a:off x="6858000" y="5029200"/>
            <a:ext cx="128016" cy="12801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0" y="4965192"/>
            <a:ext cx="42519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local industrial base: over 30,000 workers on site during the construction phase.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Safety: What Do the Data and Design Say?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objective comparison normalized by installed capacity (events per GW)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08760"/>
          <a:ext cx="5943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76656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note: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766560" y="18745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Dabaa's rate of operational events sits in the middle of the pack among its Generation III+ peers — neither the best nor the worst statistically in this analysis. Real confidence in VVER-1200 safety comes from its internationally certified engineering design: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766560" y="2999232"/>
            <a:ext cx="128016" cy="12801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0" y="286207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certified by the IAEA and fully compliant with all post-Fukushima requirements.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66560" y="3685032"/>
            <a:ext cx="128016" cy="12801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0" y="354787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containment plus passive emergency cooling that needs no electricity or human intervention.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66560" y="4370832"/>
            <a:ext cx="128016" cy="12801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9"/>
          <p:cNvSpPr/>
          <p:nvPr/>
        </p:nvSpPr>
        <p:spPr>
          <a:xfrm>
            <a:off x="7040880" y="423367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actual operating record of over 15 years at comparable Russian plants with no major incidents.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&amp; Strategic Impact on Egypt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energy project in Egypt's modern history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20440" cy="2148840"/>
          </a:xfrm>
          <a:prstGeom prst="roundRect">
            <a:avLst>
              <a:gd name="adj" fmla="val 2979"/>
            </a:avLst>
          </a:prstGeom>
          <a:solidFill>
            <a:srgbClr val="0B335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01952"/>
            <a:ext cx="502920" cy="502920"/>
          </a:xfrm>
          <a:prstGeom prst="ellipse">
            <a:avLst/>
          </a:prstGeom>
          <a:solidFill>
            <a:srgbClr val="134A6E"/>
          </a:solidFill>
          <a:ln/>
        </p:spPr>
      </p:sp>
      <p:pic>
        <p:nvPicPr>
          <p:cNvPr id="6" name="Image 0" descr="icons/industry_g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022653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0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Million Tonnes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reduction in carbon emissions compared to equivalent fossil-fuel plants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45920"/>
            <a:ext cx="3520440" cy="2148840"/>
          </a:xfrm>
          <a:prstGeom prst="roundRect">
            <a:avLst>
              <a:gd name="adj" fmla="val 2979"/>
            </a:avLst>
          </a:prstGeom>
          <a:solidFill>
            <a:srgbClr val="0B3350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1901952"/>
            <a:ext cx="502920" cy="502920"/>
          </a:xfrm>
          <a:prstGeom prst="ellipse">
            <a:avLst/>
          </a:prstGeom>
          <a:solidFill>
            <a:srgbClr val="134A6E"/>
          </a:solidFill>
          <a:ln/>
        </p:spPr>
      </p:sp>
      <p:pic>
        <p:nvPicPr>
          <p:cNvPr id="11" name="Image 1" descr="icons/users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421" y="2022653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920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+50,000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17720" y="251460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and indirect jobs during construction and operation phases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645920"/>
            <a:ext cx="3520440" cy="2148840"/>
          </a:xfrm>
          <a:prstGeom prst="roundRect">
            <a:avLst>
              <a:gd name="adj" fmla="val 2979"/>
            </a:avLst>
          </a:prstGeom>
          <a:solidFill>
            <a:srgbClr val="0B3350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1901952"/>
            <a:ext cx="502920" cy="502920"/>
          </a:xfrm>
          <a:prstGeom prst="ellipse">
            <a:avLst/>
          </a:prstGeom>
          <a:solidFill>
            <a:srgbClr val="134A6E"/>
          </a:solidFill>
          <a:ln/>
        </p:spPr>
      </p:sp>
      <p:pic>
        <p:nvPicPr>
          <p:cNvPr id="16" name="Image 2" descr="icons/building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741" y="2022653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920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$2.25 Billion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321040" y="251460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subcontracts with international and regional firms, including South Korea's KHNP for buildings and components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520440" cy="2148840"/>
          </a:xfrm>
          <a:prstGeom prst="roundRect">
            <a:avLst>
              <a:gd name="adj" fmla="val 2979"/>
            </a:avLst>
          </a:prstGeom>
          <a:solidFill>
            <a:srgbClr val="0B3350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4233672"/>
            <a:ext cx="502920" cy="502920"/>
          </a:xfrm>
          <a:prstGeom prst="ellipse">
            <a:avLst/>
          </a:prstGeom>
          <a:solidFill>
            <a:srgbClr val="134A6E"/>
          </a:solidFill>
          <a:ln/>
        </p:spPr>
      </p:sp>
      <p:pic>
        <p:nvPicPr>
          <p:cNvPr id="21" name="Image 3" descr="icons/landmark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4354373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251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Industrial Partnership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914400" y="484632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 Contractors participate in marine and construction works, with contracts exceeding $400 million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520440" cy="2148840"/>
          </a:xfrm>
          <a:prstGeom prst="roundRect">
            <a:avLst>
              <a:gd name="adj" fmla="val 2979"/>
            </a:avLst>
          </a:prstGeom>
          <a:solidFill>
            <a:srgbClr val="0B3350"/>
          </a:solidFill>
          <a:ln/>
        </p:spPr>
      </p:sp>
      <p:sp>
        <p:nvSpPr>
          <p:cNvPr id="25" name="Shape 19"/>
          <p:cNvSpPr/>
          <p:nvPr/>
        </p:nvSpPr>
        <p:spPr>
          <a:xfrm>
            <a:off x="4617720" y="4233672"/>
            <a:ext cx="502920" cy="502920"/>
          </a:xfrm>
          <a:prstGeom prst="ellipse">
            <a:avLst/>
          </a:prstGeom>
          <a:solidFill>
            <a:srgbClr val="134A6E"/>
          </a:solidFill>
          <a:ln/>
        </p:spPr>
      </p:sp>
      <p:pic>
        <p:nvPicPr>
          <p:cNvPr id="26" name="Image 4" descr="icons/university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421" y="4354373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251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Human Capacity</a:t>
            </a:r>
            <a:endParaRPr lang="en-US" sz="1900" dirty="0"/>
          </a:p>
        </p:txBody>
      </p:sp>
      <p:sp>
        <p:nvSpPr>
          <p:cNvPr id="28" name="Text 21"/>
          <p:cNvSpPr/>
          <p:nvPr/>
        </p:nvSpPr>
        <p:spPr>
          <a:xfrm>
            <a:off x="4617720" y="484632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Establishment of the El Dabaa Nuclear Technical School, training Egyptian engineers and operators in Russia and Egypt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977640"/>
            <a:ext cx="3520440" cy="2148840"/>
          </a:xfrm>
          <a:prstGeom prst="roundRect">
            <a:avLst>
              <a:gd name="adj" fmla="val 2979"/>
            </a:avLst>
          </a:prstGeom>
          <a:solidFill>
            <a:srgbClr val="0B3350"/>
          </a:solidFill>
          <a:ln/>
        </p:spPr>
      </p:sp>
      <p:sp>
        <p:nvSpPr>
          <p:cNvPr id="30" name="Shape 23"/>
          <p:cNvSpPr/>
          <p:nvPr/>
        </p:nvSpPr>
        <p:spPr>
          <a:xfrm>
            <a:off x="8321040" y="4233672"/>
            <a:ext cx="502920" cy="502920"/>
          </a:xfrm>
          <a:prstGeom prst="ellipse">
            <a:avLst/>
          </a:prstGeom>
          <a:solidFill>
            <a:srgbClr val="134A6E"/>
          </a:solidFill>
          <a:ln/>
        </p:spPr>
      </p:sp>
      <p:pic>
        <p:nvPicPr>
          <p:cNvPr id="31" name="Image 5" descr="icons/globe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1741" y="4354373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6840" y="4251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Standing</a:t>
            </a:r>
            <a:endParaRPr lang="en-US" sz="1900" dirty="0"/>
          </a:p>
        </p:txBody>
      </p:sp>
      <p:sp>
        <p:nvSpPr>
          <p:cNvPr id="33" name="Text 25"/>
          <p:cNvSpPr/>
          <p:nvPr/>
        </p:nvSpPr>
        <p:spPr>
          <a:xfrm>
            <a:off x="8321040" y="484632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becomes the only country in the region with Generation III+ reactors, and Africa's second nuclear plant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Structure: How Is El Dabaa Funded?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financing on concessional terms that lowers financial risk for the state and investors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691640"/>
          <a:ext cx="4754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737360"/>
            <a:ext cx="5669280" cy="914400"/>
          </a:xfrm>
          <a:prstGeom prst="roundRect">
            <a:avLst>
              <a:gd name="adj" fmla="val 7000"/>
            </a:avLst>
          </a:prstGeom>
          <a:solidFill>
            <a:srgbClr val="F7F7F7"/>
          </a:solidFill>
          <a:ln/>
        </p:spPr>
      </p:sp>
      <p:sp>
        <p:nvSpPr>
          <p:cNvPr id="6" name="Shape 3"/>
          <p:cNvSpPr/>
          <p:nvPr/>
        </p:nvSpPr>
        <p:spPr>
          <a:xfrm>
            <a:off x="6126480" y="1938528"/>
            <a:ext cx="502920" cy="502920"/>
          </a:xfrm>
          <a:prstGeom prst="ellipse">
            <a:avLst/>
          </a:prstGeom>
          <a:solidFill>
            <a:srgbClr val="E4ECEF"/>
          </a:solidFill>
          <a:ln/>
        </p:spPr>
      </p:sp>
      <p:pic>
        <p:nvPicPr>
          <p:cNvPr id="7" name="Image 0" descr="icons/coins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181" y="2059229"/>
            <a:ext cx="261518" cy="261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6656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Billion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0" y="2194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the Russian loan, provided under an agreement between Egypt's and Russia's Ministries of Finance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852160" y="2761488"/>
            <a:ext cx="5669280" cy="914400"/>
          </a:xfrm>
          <a:prstGeom prst="roundRect">
            <a:avLst>
              <a:gd name="adj" fmla="val 7000"/>
            </a:avLst>
          </a:prstGeom>
          <a:solidFill>
            <a:srgbClr val="F7F7F7"/>
          </a:solidFill>
          <a:ln/>
        </p:spPr>
      </p:sp>
      <p:sp>
        <p:nvSpPr>
          <p:cNvPr id="11" name="Shape 7"/>
          <p:cNvSpPr/>
          <p:nvPr/>
        </p:nvSpPr>
        <p:spPr>
          <a:xfrm>
            <a:off x="6126480" y="2962656"/>
            <a:ext cx="502920" cy="502920"/>
          </a:xfrm>
          <a:prstGeom prst="ellipse">
            <a:avLst/>
          </a:prstGeom>
          <a:solidFill>
            <a:srgbClr val="E4ECEF"/>
          </a:solidFill>
          <a:ln/>
        </p:spPr>
      </p:sp>
      <p:pic>
        <p:nvPicPr>
          <p:cNvPr id="12" name="Image 1" descr="icons/calenda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181" y="3083357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66560" y="28529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Years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766560" y="321868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repayment period, with installments starting once the plant is commercially operational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852160" y="3785616"/>
            <a:ext cx="5669280" cy="914400"/>
          </a:xfrm>
          <a:prstGeom prst="roundRect">
            <a:avLst>
              <a:gd name="adj" fmla="val 7000"/>
            </a:avLst>
          </a:prstGeom>
          <a:solidFill>
            <a:srgbClr val="F7F7F7"/>
          </a:solidFill>
          <a:ln/>
        </p:spPr>
      </p:sp>
      <p:sp>
        <p:nvSpPr>
          <p:cNvPr id="16" name="Shape 11"/>
          <p:cNvSpPr/>
          <p:nvPr/>
        </p:nvSpPr>
        <p:spPr>
          <a:xfrm>
            <a:off x="6126480" y="3986784"/>
            <a:ext cx="502920" cy="502920"/>
          </a:xfrm>
          <a:prstGeom prst="ellipse">
            <a:avLst/>
          </a:prstGeom>
          <a:solidFill>
            <a:srgbClr val="E4ECEF"/>
          </a:solidFill>
          <a:ln/>
        </p:spPr>
      </p:sp>
      <p:pic>
        <p:nvPicPr>
          <p:cNvPr id="17" name="Image 2" descr="icons/char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181" y="4107485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66560" y="38770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Annually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766560" y="424281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low preferential interest rate compared to commercial financing rates for megaprojects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852160" y="4809744"/>
            <a:ext cx="5669280" cy="914400"/>
          </a:xfrm>
          <a:prstGeom prst="roundRect">
            <a:avLst>
              <a:gd name="adj" fmla="val 7000"/>
            </a:avLst>
          </a:prstGeom>
          <a:solidFill>
            <a:srgbClr val="F7F7F7"/>
          </a:solidFill>
          <a:ln/>
        </p:spPr>
      </p:sp>
      <p:sp>
        <p:nvSpPr>
          <p:cNvPr id="21" name="Shape 15"/>
          <p:cNvSpPr/>
          <p:nvPr/>
        </p:nvSpPr>
        <p:spPr>
          <a:xfrm>
            <a:off x="6126480" y="5010912"/>
            <a:ext cx="502920" cy="502920"/>
          </a:xfrm>
          <a:prstGeom prst="ellipse">
            <a:avLst/>
          </a:prstGeom>
          <a:solidFill>
            <a:srgbClr val="E4ECEF"/>
          </a:solidFill>
          <a:ln/>
        </p:spPr>
      </p:sp>
      <p:pic>
        <p:nvPicPr>
          <p:cNvPr id="22" name="Image 3" descr="icons/handshak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7181" y="5131613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66560" y="49011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766560" y="526694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share, financed through the state, private sector, and direct investment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Full Operation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units coming online in succession through 2030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58468" y="2011680"/>
            <a:ext cx="512064" cy="512064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8483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70532" y="2267712"/>
            <a:ext cx="3429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788920"/>
            <a:ext cx="2331720" cy="2194560"/>
          </a:xfrm>
          <a:prstGeom prst="roundRect">
            <a:avLst>
              <a:gd name="adj" fmla="val 2500"/>
            </a:avLst>
          </a:prstGeom>
          <a:solidFill>
            <a:srgbClr val="134A6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0779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Begins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383280"/>
            <a:ext cx="2057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concrete pour for Unit 1, and its construction license issued by Egypt's nuclear regulatory authority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41598" y="2011680"/>
            <a:ext cx="512064" cy="512064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3210" y="208483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2023-2025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53662" y="2267712"/>
            <a:ext cx="3429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31770" y="2788920"/>
            <a:ext cx="2331720" cy="2194560"/>
          </a:xfrm>
          <a:prstGeom prst="roundRect">
            <a:avLst>
              <a:gd name="adj" fmla="val 2500"/>
            </a:avLst>
          </a:prstGeom>
          <a:solidFill>
            <a:srgbClr val="134A6E"/>
          </a:solidFill>
          <a:ln/>
        </p:spPr>
      </p:sp>
      <p:sp>
        <p:nvSpPr>
          <p:cNvPr id="14" name="Text 12"/>
          <p:cNvSpPr/>
          <p:nvPr/>
        </p:nvSpPr>
        <p:spPr>
          <a:xfrm>
            <a:off x="2823210" y="290779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Progress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68930" y="3383280"/>
            <a:ext cx="2057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of all four reactor vessels, with over 25,000 workers active on site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24728" y="2011680"/>
            <a:ext cx="512064" cy="512064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6340" y="208483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36792" y="2267712"/>
            <a:ext cx="3429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14900" y="2788920"/>
            <a:ext cx="2331720" cy="2194560"/>
          </a:xfrm>
          <a:prstGeom prst="roundRect">
            <a:avLst>
              <a:gd name="adj" fmla="val 2500"/>
            </a:avLst>
          </a:prstGeom>
          <a:solidFill>
            <a:srgbClr val="134A6E"/>
          </a:solidFill>
          <a:ln/>
        </p:spPr>
      </p:sp>
      <p:sp>
        <p:nvSpPr>
          <p:cNvPr id="20" name="Text 18"/>
          <p:cNvSpPr/>
          <p:nvPr/>
        </p:nvSpPr>
        <p:spPr>
          <a:xfrm>
            <a:off x="5006340" y="290779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Commercial Operation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52060" y="3383280"/>
            <a:ext cx="2057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(1,200 MW) enters commercial service on the national grid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07858" y="2011680"/>
            <a:ext cx="512064" cy="512064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9470" y="208483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2028-2029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19922" y="2267712"/>
            <a:ext cx="3429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98030" y="2788920"/>
            <a:ext cx="2331720" cy="2194560"/>
          </a:xfrm>
          <a:prstGeom prst="roundRect">
            <a:avLst>
              <a:gd name="adj" fmla="val 2500"/>
            </a:avLst>
          </a:prstGeom>
          <a:solidFill>
            <a:srgbClr val="134A6E"/>
          </a:solidFill>
          <a:ln/>
        </p:spPr>
      </p:sp>
      <p:sp>
        <p:nvSpPr>
          <p:cNvPr id="26" name="Text 24"/>
          <p:cNvSpPr/>
          <p:nvPr/>
        </p:nvSpPr>
        <p:spPr>
          <a:xfrm>
            <a:off x="7189470" y="290779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2 &amp; 3 Online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35190" y="3383280"/>
            <a:ext cx="2057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two and three enter service in succession during this period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190988" y="2011680"/>
            <a:ext cx="512064" cy="512064"/>
          </a:xfrm>
          <a:prstGeom prst="ellipse">
            <a:avLst/>
          </a:prstGeom>
          <a:solidFill>
            <a:srgbClr val="C89B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72600" y="208483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281160" y="2788920"/>
            <a:ext cx="2331720" cy="2194560"/>
          </a:xfrm>
          <a:prstGeom prst="roundRect">
            <a:avLst>
              <a:gd name="adj" fmla="val 2500"/>
            </a:avLst>
          </a:prstGeom>
          <a:solidFill>
            <a:srgbClr val="134A6E"/>
          </a:solidFill>
          <a:ln/>
        </p:spPr>
      </p:sp>
      <p:sp>
        <p:nvSpPr>
          <p:cNvPr id="31" name="Text 29"/>
          <p:cNvSpPr/>
          <p:nvPr/>
        </p:nvSpPr>
        <p:spPr>
          <a:xfrm>
            <a:off x="9372600" y="290779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418320" y="3383280"/>
            <a:ext cx="2057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fourth and final unit enters service, bringing total capacity to 4,800 MW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What Does This Mean for Each Audience?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7F7F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080260" y="1783080"/>
            <a:ext cx="640080" cy="640080"/>
          </a:xfrm>
          <a:prstGeom prst="ellipse">
            <a:avLst/>
          </a:prstGeom>
          <a:solidFill>
            <a:srgbClr val="E4ECEF"/>
          </a:solidFill>
          <a:ln/>
        </p:spPr>
      </p:sp>
      <p:pic>
        <p:nvPicPr>
          <p:cNvPr id="5" name="Image 0" descr="icons/money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3879" y="19366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14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Investors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3044952"/>
            <a:ext cx="109728" cy="10972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290779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 capital cost per MW among all Generation III+ reactors worldwide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822960" y="3959352"/>
            <a:ext cx="109728" cy="10972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82219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positive profitability under a long-term, state-guaranteed power purchase agreement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822960" y="4873752"/>
            <a:ext cx="109728" cy="10972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473659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government financing that reduces liquidity risk over 22 years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4343400" y="15544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7F7F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83580" y="1783080"/>
            <a:ext cx="640080" cy="640080"/>
          </a:xfrm>
          <a:prstGeom prst="ellipse">
            <a:avLst/>
          </a:prstGeom>
          <a:solidFill>
            <a:srgbClr val="E4ECEF"/>
          </a:solidFill>
          <a:ln/>
        </p:spPr>
      </p:sp>
      <p:pic>
        <p:nvPicPr>
          <p:cNvPr id="15" name="Image 1" descr="icons/landmark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199" y="1936699"/>
            <a:ext cx="332842" cy="33284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26280" y="2514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State &amp; Policymakers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526280" y="3044952"/>
            <a:ext cx="109728" cy="10972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4"/>
          <p:cNvSpPr/>
          <p:nvPr/>
        </p:nvSpPr>
        <p:spPr>
          <a:xfrm>
            <a:off x="4754880" y="290779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security and independence from global gas and fuel market volatility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4526280" y="3959352"/>
            <a:ext cx="109728" cy="10972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0" name="Text 16"/>
          <p:cNvSpPr/>
          <p:nvPr/>
        </p:nvSpPr>
        <p:spPr>
          <a:xfrm>
            <a:off x="4754880" y="382219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proven operating record and technology certified by the IAEA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4526280" y="4873752"/>
            <a:ext cx="109728" cy="10972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2" name="Text 18"/>
          <p:cNvSpPr/>
          <p:nvPr/>
        </p:nvSpPr>
        <p:spPr>
          <a:xfrm>
            <a:off x="4754880" y="473659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genuine local industrial and technical base with knowledge transfer for decades to come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8046720" y="15544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7F7F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9486900" y="1783080"/>
            <a:ext cx="640080" cy="640080"/>
          </a:xfrm>
          <a:prstGeom prst="ellipse">
            <a:avLst/>
          </a:prstGeom>
          <a:solidFill>
            <a:srgbClr val="E4ECEF"/>
          </a:solidFill>
          <a:ln/>
        </p:spPr>
      </p:sp>
      <p:pic>
        <p:nvPicPr>
          <p:cNvPr id="25" name="Image 2" descr="icons/use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519" y="1936699"/>
            <a:ext cx="332842" cy="33284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229600" y="2514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Public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8229600" y="3044952"/>
            <a:ext cx="109728" cy="10972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8" name="Text 23"/>
          <p:cNvSpPr/>
          <p:nvPr/>
        </p:nvSpPr>
        <p:spPr>
          <a:xfrm>
            <a:off x="8458200" y="290779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electricity with greater long-term price stability</a:t>
            </a:r>
            <a:endParaRPr lang="en-US" sz="1080" dirty="0"/>
          </a:p>
        </p:txBody>
      </p:sp>
      <p:sp>
        <p:nvSpPr>
          <p:cNvPr id="29" name="Shape 24"/>
          <p:cNvSpPr/>
          <p:nvPr/>
        </p:nvSpPr>
        <p:spPr>
          <a:xfrm>
            <a:off x="8229600" y="3959352"/>
            <a:ext cx="109728" cy="10972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0" name="Text 25"/>
          <p:cNvSpPr/>
          <p:nvPr/>
        </p:nvSpPr>
        <p:spPr>
          <a:xfrm>
            <a:off x="8458200" y="382219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matching the highest global safety standards post-Fukushima</a:t>
            </a:r>
            <a:endParaRPr lang="en-US" sz="1080" dirty="0"/>
          </a:p>
        </p:txBody>
      </p:sp>
      <p:sp>
        <p:nvSpPr>
          <p:cNvPr id="31" name="Shape 26"/>
          <p:cNvSpPr/>
          <p:nvPr/>
        </p:nvSpPr>
        <p:spPr>
          <a:xfrm>
            <a:off x="8229600" y="4873752"/>
            <a:ext cx="109728" cy="10972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2" name="Text 27"/>
          <p:cNvSpPr/>
          <p:nvPr/>
        </p:nvSpPr>
        <p:spPr>
          <a:xfrm>
            <a:off x="8458200" y="473659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job opportunities and development for the El Dabaa area and Matrouh Governorate</a:t>
            </a:r>
            <a:endParaRPr lang="en-US" sz="1080" dirty="0"/>
          </a:p>
        </p:txBody>
      </p:sp>
      <p:sp>
        <p:nvSpPr>
          <p:cNvPr id="33" name="Text 2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Data Exploration Methodology (Python / Pandas)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Libraries &amp; Reading the Data File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01168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1490472"/>
            <a:ext cx="8745794" cy="1682496"/>
          </a:xfrm>
          <a:prstGeom prst="roundRect">
            <a:avLst>
              <a:gd name="adj" fmla="val 2717"/>
            </a:avLst>
          </a:prstGeom>
          <a:solidFill>
            <a:srgbClr val="1E1E1E"/>
          </a:solidFill>
          <a:ln/>
        </p:spPr>
      </p:sp>
      <p:pic>
        <p:nvPicPr>
          <p:cNvPr id="6" name="Image 0" descr="appendix_imgs/IMG-20260705-WA003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600200"/>
            <a:ext cx="8471474" cy="1463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00200" y="3410712"/>
            <a:ext cx="8615432" cy="3328416"/>
          </a:xfrm>
          <a:prstGeom prst="roundRect">
            <a:avLst>
              <a:gd name="adj" fmla="val 1374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8" name="Image 1" descr="appendix_imgs/IMG-20260705-WA0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3520440"/>
            <a:ext cx="8341112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Data Exploration Methodology (Python / Pandas)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Dimensions (df.shape)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01168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0" y="1719072"/>
            <a:ext cx="3474720" cy="892556"/>
          </a:xfrm>
          <a:prstGeom prst="roundRect">
            <a:avLst>
              <a:gd name="adj" fmla="val 5122"/>
            </a:avLst>
          </a:prstGeom>
          <a:solidFill>
            <a:srgbClr val="1E1E1E"/>
          </a:solidFill>
          <a:ln/>
        </p:spPr>
      </p:sp>
      <p:pic>
        <p:nvPicPr>
          <p:cNvPr id="6" name="Image 0" descr="appendix_imgs/IMG-20260705-WA003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828800"/>
            <a:ext cx="3200400" cy="6731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43400" y="2849372"/>
            <a:ext cx="3474720" cy="1001121"/>
          </a:xfrm>
          <a:prstGeom prst="roundRect">
            <a:avLst>
              <a:gd name="adj" fmla="val 4567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8" name="Image 1" descr="appendix_imgs/IMG-20260705-WA0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959100"/>
            <a:ext cx="3200400" cy="7816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08960" y="4846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3,168 rows x 53 columns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Data Exploration Methodology (Python / Pandas)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 Rows of Data (df.head())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01168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0" y="1490472"/>
            <a:ext cx="3111038" cy="1133856"/>
          </a:xfrm>
          <a:prstGeom prst="roundRect">
            <a:avLst>
              <a:gd name="adj" fmla="val 4032"/>
            </a:avLst>
          </a:prstGeom>
          <a:solidFill>
            <a:srgbClr val="1E1E1E"/>
          </a:solidFill>
          <a:ln/>
        </p:spPr>
      </p:sp>
      <p:pic>
        <p:nvPicPr>
          <p:cNvPr id="6" name="Image 0" descr="appendix_imgs/IMG-20260705-WA003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600200"/>
            <a:ext cx="2836718" cy="914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2862072"/>
            <a:ext cx="10607040" cy="2458028"/>
          </a:xfrm>
          <a:prstGeom prst="roundRect">
            <a:avLst>
              <a:gd name="adj" fmla="val 1860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8" name="Image 1" descr="appendix_imgs/IMG-20260705-WA0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71800"/>
            <a:ext cx="10332720" cy="22385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Data Exploration Methodology (Python / Pandas)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5 Rows of Data (df.tail())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01168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0" y="1490472"/>
            <a:ext cx="3474720" cy="1065843"/>
          </a:xfrm>
          <a:prstGeom prst="roundRect">
            <a:avLst>
              <a:gd name="adj" fmla="val 4290"/>
            </a:avLst>
          </a:prstGeom>
          <a:solidFill>
            <a:srgbClr val="1E1E1E"/>
          </a:solidFill>
          <a:ln/>
        </p:spPr>
      </p:sp>
      <p:pic>
        <p:nvPicPr>
          <p:cNvPr id="6" name="Image 0" descr="appendix_imgs/IMG-20260705-WA003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600200"/>
            <a:ext cx="3200400" cy="84638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2794059"/>
            <a:ext cx="10607040" cy="2222230"/>
          </a:xfrm>
          <a:prstGeom prst="roundRect">
            <a:avLst>
              <a:gd name="adj" fmla="val 2057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8" name="Image 1" descr="appendix_imgs/IMG-20260705-WA0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03787"/>
            <a:ext cx="10332720" cy="200277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Data Exploration Methodology (Python / Pandas)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Sample of Data (df.sample())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01168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0" y="1490472"/>
            <a:ext cx="3474720" cy="713695"/>
          </a:xfrm>
          <a:prstGeom prst="roundRect">
            <a:avLst>
              <a:gd name="adj" fmla="val 6406"/>
            </a:avLst>
          </a:prstGeom>
          <a:solidFill>
            <a:srgbClr val="1E1E1E"/>
          </a:solidFill>
          <a:ln/>
        </p:spPr>
      </p:sp>
      <p:pic>
        <p:nvPicPr>
          <p:cNvPr id="6" name="Image 0" descr="appendix_imgs/IMG-20260705-WA00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600200"/>
            <a:ext cx="3200400" cy="4942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25880" y="2441911"/>
            <a:ext cx="9509760" cy="1184086"/>
          </a:xfrm>
          <a:prstGeom prst="roundRect">
            <a:avLst>
              <a:gd name="adj" fmla="val 3861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8" name="Image 1" descr="appendix_imgs/IMG-20260705-WA0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551639"/>
            <a:ext cx="9235440" cy="9646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Data Exploration Methodology (Python / Pandas)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Column Information (df.info())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01168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0" y="1444752"/>
            <a:ext cx="3474720" cy="845430"/>
          </a:xfrm>
          <a:prstGeom prst="roundRect">
            <a:avLst>
              <a:gd name="adj" fmla="val 5408"/>
            </a:avLst>
          </a:prstGeom>
          <a:solidFill>
            <a:srgbClr val="1E1E1E"/>
          </a:solidFill>
          <a:ln/>
        </p:spPr>
      </p:sp>
      <p:pic>
        <p:nvPicPr>
          <p:cNvPr id="6" name="Image 0" descr="appendix_imgs/IMG-20260705-WA004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554480"/>
            <a:ext cx="3200400" cy="62597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2313432"/>
            <a:ext cx="5016891" cy="4334256"/>
          </a:xfrm>
          <a:prstGeom prst="roundRect">
            <a:avLst>
              <a:gd name="adj" fmla="val 1055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8" name="Image 1" descr="appendix_imgs/IMG-20260705-WA0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23160"/>
            <a:ext cx="4742571" cy="4114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26480" y="2313432"/>
            <a:ext cx="5393615" cy="4334256"/>
          </a:xfrm>
          <a:prstGeom prst="roundRect">
            <a:avLst>
              <a:gd name="adj" fmla="val 1055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10" name="Image 2" descr="appendix_imgs/IMG-20260705-WA00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423160"/>
            <a:ext cx="511929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Data Exploration Methodology (Python / Pandas)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Summary of Numeric Columns (df.describe())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01168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14600" y="1490472"/>
            <a:ext cx="5760720" cy="906243"/>
          </a:xfrm>
          <a:prstGeom prst="roundRect">
            <a:avLst>
              <a:gd name="adj" fmla="val 5045"/>
            </a:avLst>
          </a:prstGeom>
          <a:solidFill>
            <a:srgbClr val="1E1E1E"/>
          </a:solidFill>
          <a:ln/>
        </p:spPr>
      </p:sp>
      <p:pic>
        <p:nvPicPr>
          <p:cNvPr id="6" name="Image 0" descr="appendix_imgs/IMG-20260705-WA004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600200"/>
            <a:ext cx="5486400" cy="68678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2634459"/>
            <a:ext cx="10607040" cy="2727569"/>
          </a:xfrm>
          <a:prstGeom prst="roundRect">
            <a:avLst>
              <a:gd name="adj" fmla="val 1676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8" name="Image 1" descr="appendix_imgs/IMG-20260705-WA00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4187"/>
            <a:ext cx="10332720" cy="250811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Data Exploration Methodology (Python / Pandas)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Summary of Text Columns (df.describe(include=object))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01168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14600" y="1490472"/>
            <a:ext cx="5760720" cy="871528"/>
          </a:xfrm>
          <a:prstGeom prst="roundRect">
            <a:avLst>
              <a:gd name="adj" fmla="val 5246"/>
            </a:avLst>
          </a:prstGeom>
          <a:solidFill>
            <a:srgbClr val="1E1E1E"/>
          </a:solidFill>
          <a:ln/>
        </p:spPr>
      </p:sp>
      <p:pic>
        <p:nvPicPr>
          <p:cNvPr id="6" name="Image 0" descr="appendix_imgs/IMG-20260705-WA004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600200"/>
            <a:ext cx="5486400" cy="6520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57400" y="2599744"/>
            <a:ext cx="7533721" cy="3236976"/>
          </a:xfrm>
          <a:prstGeom prst="roundRect">
            <a:avLst>
              <a:gd name="adj" fmla="val 1412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8" name="Image 1" descr="appendix_imgs/IMG-20260705-WA00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2709472"/>
            <a:ext cx="7259401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Data Exploration Methodology (Python / Pandas)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Countries in the Data (Country.unique())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01168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46120" y="1627632"/>
            <a:ext cx="4389120" cy="922401"/>
          </a:xfrm>
          <a:prstGeom prst="roundRect">
            <a:avLst>
              <a:gd name="adj" fmla="val 4957"/>
            </a:avLst>
          </a:prstGeom>
          <a:solidFill>
            <a:srgbClr val="1E1E1E"/>
          </a:solidFill>
          <a:ln/>
        </p:spPr>
      </p:sp>
      <p:pic>
        <p:nvPicPr>
          <p:cNvPr id="6" name="Image 0" descr="appendix_imgs/IMG-20260705-WA004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737360"/>
            <a:ext cx="4114800" cy="70294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2833497"/>
            <a:ext cx="10607040" cy="813059"/>
          </a:xfrm>
          <a:prstGeom prst="roundRect">
            <a:avLst>
              <a:gd name="adj" fmla="val 5623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8" name="Image 1" descr="appendix_imgs/IMG-20260705-WA0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43225"/>
            <a:ext cx="10332720" cy="59360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Data Exploration Methodology (Python / Pandas)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Distinct Countries (Country.nunique())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01168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86200" y="1719072"/>
            <a:ext cx="4389120" cy="805193"/>
          </a:xfrm>
          <a:prstGeom prst="roundRect">
            <a:avLst>
              <a:gd name="adj" fmla="val 5678"/>
            </a:avLst>
          </a:prstGeom>
          <a:solidFill>
            <a:srgbClr val="1E1E1E"/>
          </a:solidFill>
          <a:ln/>
        </p:spPr>
      </p:sp>
      <p:pic>
        <p:nvPicPr>
          <p:cNvPr id="6" name="Image 0" descr="appendix_imgs/IMG-20260705-WA005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828800"/>
            <a:ext cx="4114800" cy="58573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86200" y="2762009"/>
            <a:ext cx="4389120" cy="836083"/>
          </a:xfrm>
          <a:prstGeom prst="roundRect">
            <a:avLst>
              <a:gd name="adj" fmla="val 5468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8" name="Image 1" descr="appendix_imgs/IMG-20260705-WA00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871737"/>
            <a:ext cx="4114800" cy="61662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Data Exploration Methodology (Python / Pandas)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 Names (df.columns)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01168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0" y="1444752"/>
            <a:ext cx="3474720" cy="827796"/>
          </a:xfrm>
          <a:prstGeom prst="roundRect">
            <a:avLst>
              <a:gd name="adj" fmla="val 5523"/>
            </a:avLst>
          </a:prstGeom>
          <a:solidFill>
            <a:srgbClr val="1E1E1E"/>
          </a:solidFill>
          <a:ln/>
        </p:spPr>
      </p:sp>
      <p:pic>
        <p:nvPicPr>
          <p:cNvPr id="6" name="Image 0" descr="appendix_imgs/IMG-20260705-WA005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554480"/>
            <a:ext cx="3200400" cy="6083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2464572"/>
            <a:ext cx="9749373" cy="3511296"/>
          </a:xfrm>
          <a:prstGeom prst="roundRect">
            <a:avLst>
              <a:gd name="adj" fmla="val 1302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8" name="Image 1" descr="appendix_imgs/IMG-20260705-WA00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74300"/>
            <a:ext cx="9475053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Data Exploration Methodology (Python / Pandas)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of Each Column (df.dtypes)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01168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0" y="1399032"/>
            <a:ext cx="3474720" cy="832866"/>
          </a:xfrm>
          <a:prstGeom prst="roundRect">
            <a:avLst>
              <a:gd name="adj" fmla="val 5489"/>
            </a:avLst>
          </a:prstGeom>
          <a:solidFill>
            <a:srgbClr val="1E1E1E"/>
          </a:solidFill>
          <a:ln/>
        </p:spPr>
      </p:sp>
      <p:pic>
        <p:nvPicPr>
          <p:cNvPr id="6" name="Image 0" descr="appendix_imgs/IMG-20260705-WA005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508760"/>
            <a:ext cx="3200400" cy="6134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25880" y="2221992"/>
            <a:ext cx="3822794" cy="4425696"/>
          </a:xfrm>
          <a:prstGeom prst="roundRect">
            <a:avLst>
              <a:gd name="adj" fmla="val 1196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8" name="Image 1" descr="appendix_imgs/IMG-20260705-WA00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331720"/>
            <a:ext cx="3548474" cy="42062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72200" y="2221992"/>
            <a:ext cx="4076239" cy="4425696"/>
          </a:xfrm>
          <a:prstGeom prst="roundRect">
            <a:avLst>
              <a:gd name="adj" fmla="val 1122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10" name="Image 2" descr="appendix_imgs/IMG-20260705-WA005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331720"/>
            <a:ext cx="3801919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Data Exploration Methodology (Python / Pandas)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Most Frequent Countries (value_counts)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01168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1581912"/>
            <a:ext cx="5760720" cy="876161"/>
          </a:xfrm>
          <a:prstGeom prst="roundRect">
            <a:avLst>
              <a:gd name="adj" fmla="val 5218"/>
            </a:avLst>
          </a:prstGeom>
          <a:solidFill>
            <a:srgbClr val="1E1E1E"/>
          </a:solidFill>
          <a:ln/>
        </p:spPr>
      </p:sp>
      <p:pic>
        <p:nvPicPr>
          <p:cNvPr id="6" name="Image 0" descr="appendix_imgs/IMG-20260705-WA006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691640"/>
            <a:ext cx="5486400" cy="6567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069080" y="2695817"/>
            <a:ext cx="3931920" cy="1123182"/>
          </a:xfrm>
          <a:prstGeom prst="roundRect">
            <a:avLst>
              <a:gd name="adj" fmla="val 4071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8" name="Image 1" descr="appendix_imgs/IMG-20260705-WA00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805545"/>
            <a:ext cx="3657600" cy="90372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Data Exploration Methodology (Python / Pandas)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for Missing Values (df.isna().sum())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01168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0" y="1399032"/>
            <a:ext cx="3474720" cy="650909"/>
          </a:xfrm>
          <a:prstGeom prst="roundRect">
            <a:avLst>
              <a:gd name="adj" fmla="val 7024"/>
            </a:avLst>
          </a:prstGeom>
          <a:solidFill>
            <a:srgbClr val="1E1E1E"/>
          </a:solidFill>
          <a:ln/>
        </p:spPr>
      </p:sp>
      <p:pic>
        <p:nvPicPr>
          <p:cNvPr id="6" name="Image 0" descr="appendix_imgs/IMG-20260705-WA006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508760"/>
            <a:ext cx="3200400" cy="43145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25880" y="2221992"/>
            <a:ext cx="3946161" cy="4425696"/>
          </a:xfrm>
          <a:prstGeom prst="roundRect">
            <a:avLst>
              <a:gd name="adj" fmla="val 1159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8" name="Image 1" descr="appendix_imgs/IMG-20260705-WA00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331720"/>
            <a:ext cx="3671841" cy="42062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72200" y="2221992"/>
            <a:ext cx="4347029" cy="4425696"/>
          </a:xfrm>
          <a:prstGeom prst="roundRect">
            <a:avLst>
              <a:gd name="adj" fmla="val 1052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10" name="Image 2" descr="appendix_imgs/IMG-20260705-WA006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331720"/>
            <a:ext cx="4072709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Data Exploration Methodology (Python / Pandas)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for Duplicate Rows (df.duplicated().sum())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01168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69080" y="1810512"/>
            <a:ext cx="3931920" cy="759550"/>
          </a:xfrm>
          <a:prstGeom prst="roundRect">
            <a:avLst>
              <a:gd name="adj" fmla="val 6019"/>
            </a:avLst>
          </a:prstGeom>
          <a:solidFill>
            <a:srgbClr val="1E1E1E"/>
          </a:solidFill>
          <a:ln/>
        </p:spPr>
      </p:sp>
      <p:pic>
        <p:nvPicPr>
          <p:cNvPr id="6" name="Image 0" descr="appendix_imgs/IMG-20260705-WA006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920240"/>
            <a:ext cx="3657600" cy="54009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57800" y="2807806"/>
            <a:ext cx="1828800" cy="606217"/>
          </a:xfrm>
          <a:prstGeom prst="roundRect">
            <a:avLst>
              <a:gd name="adj" fmla="val 7542"/>
            </a:avLst>
          </a:prstGeom>
          <a:solidFill>
            <a:srgbClr val="F7F7F7"/>
          </a:solidFill>
          <a:ln w="9525">
            <a:solidFill>
              <a:srgbClr val="DDDDDD"/>
            </a:solidFill>
            <a:prstDash val="solid"/>
          </a:ln>
        </p:spPr>
      </p:sp>
      <p:pic>
        <p:nvPicPr>
          <p:cNvPr id="8" name="Image 1" descr="appendix_imgs/IMG-20260705-WA00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917534"/>
            <a:ext cx="1554480" cy="3867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08960" y="4846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zero duplicates — the data is completely clean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3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114800"/>
            <a:ext cx="5486400" cy="5486400"/>
          </a:xfrm>
          <a:prstGeom prst="ellipse">
            <a:avLst/>
          </a:prstGeom>
          <a:ln w="190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134A6E"/>
          </a:solidFill>
          <a:ln/>
        </p:spPr>
      </p:sp>
      <p:pic>
        <p:nvPicPr>
          <p:cNvPr id="4" name="Image 0" descr="icons/atom_g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4" y="170078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063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Dabaa: Egypt's Investment in Its Energy Future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decision on cost, profitability, safety, and history — not just a technical choice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937760" y="4434840"/>
            <a:ext cx="228600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663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Egypt Chose VVER-1200 Reactors for El Dabaa Nuclear Plant</dc:title>
  <dc:subject>PptxGenJS Presentation</dc:subject>
  <dc:creator>El Dabaa Nuclear Project</dc:creator>
  <cp:lastModifiedBy>El Dabaa Nuclear Project</cp:lastModifiedBy>
  <cp:revision>1</cp:revision>
  <dcterms:created xsi:type="dcterms:W3CDTF">2026-07-06T04:29:19Z</dcterms:created>
  <dcterms:modified xsi:type="dcterms:W3CDTF">2026-07-06T04:29:19Z</dcterms:modified>
</cp:coreProperties>
</file>